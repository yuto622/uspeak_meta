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60520" cy="5143500"/>
          </a:xfrm>
          <a:prstGeom prst="rect">
            <a:avLst/>
          </a:prstGeom>
          <a:solidFill>
            <a:srgbClr val="1B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33832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E27A2D"/>
                </a:solidFill>
                <a:latin typeface="Noto Sans JP"/>
              </a:rPr>
              <a:t>合同会社 U-Speak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361188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400" b="1">
                <a:solidFill>
                  <a:srgbClr val="FFF6E6"/>
                </a:solidFill>
                <a:latin typeface="Noto Sans JP"/>
              </a:rPr>
              <a:t>U-Speak Web版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48840"/>
            <a:ext cx="32918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800" b="0">
                <a:solidFill>
                  <a:srgbClr val="FFF6E6"/>
                </a:solidFill>
                <a:latin typeface="Noto Sans JP"/>
              </a:rPr>
              <a:t>英語で遊ぶ3Dの島と、教室・家庭をつなぐ学習記録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29000"/>
            <a:ext cx="338328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9D6CC"/>
                </a:solidFill>
                <a:latin typeface="Noto Sans JP"/>
              </a:rPr>
              <a:t>サービス資料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C9D6CC"/>
                </a:solidFill>
                <a:latin typeface="Noto Sans JP"/>
              </a:rPr>
              <a:t>ブラウザだけで動く（iPad・PC）</a:t>
            </a:r>
          </a:p>
        </p:txBody>
      </p:sp>
      <p:pic>
        <p:nvPicPr>
          <p:cNvPr id="7" name="Picture 6" descr="main-isla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969264"/>
            <a:ext cx="4389120" cy="30500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34840" y="4069080"/>
            <a:ext cx="43891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66756B"/>
                </a:solidFill>
                <a:latin typeface="Noto Sans JP"/>
              </a:rPr>
              <a:t>メインの島（英単語ハウス・お店・ゲート）と、橋でつながるU-Speak島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B3A2F"/>
                </a:solidFill>
                <a:latin typeface="Noto Sans JP"/>
              </a:rPr>
              <a:t>英語に答えるほど、3Dの島で先へ進める</a:t>
            </a:r>
          </a:p>
        </p:txBody>
      </p:sp>
      <p:pic>
        <p:nvPicPr>
          <p:cNvPr id="3" name="Picture 2" descr="screen-fw-cat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611880" cy="27089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959352"/>
            <a:ext cx="36118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66756B"/>
                </a:solidFill>
                <a:latin typeface="Noto Sans JP"/>
              </a:rPr>
              <a:t>つり島：英語に正解すると魚が釣れる</a:t>
            </a:r>
          </a:p>
        </p:txBody>
      </p:sp>
      <p:pic>
        <p:nvPicPr>
          <p:cNvPr id="5" name="Picture 4" descr="rank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188720"/>
            <a:ext cx="2078181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251960" y="3959352"/>
            <a:ext cx="219456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66756B"/>
                </a:solidFill>
                <a:latin typeface="Noto Sans JP"/>
              </a:rPr>
              <a:t>クラスのランキング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1234440"/>
            <a:ext cx="2103120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B3A2F"/>
                </a:solidFill>
                <a:latin typeface="Noto Sans JP"/>
              </a:rPr>
              <a:t>19の島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A24"/>
                </a:solidFill>
                <a:latin typeface="Noto Sans JP"/>
              </a:rPr>
              <a:t>つり・ぼくじょう・レース・英検など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B3A2F"/>
                </a:solidFill>
                <a:latin typeface="Noto Sans JP"/>
              </a:rPr>
              <a:t>判定はサーバー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A24"/>
                </a:solidFill>
                <a:latin typeface="Noto Sans JP"/>
              </a:rPr>
              <a:t>正解とコインを画面側で変えられない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B3A2F"/>
                </a:solidFill>
                <a:latin typeface="Noto Sans JP"/>
              </a:rPr>
              <a:t>21の指標で順位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A24"/>
                </a:solidFill>
                <a:latin typeface="Noto Sans JP"/>
              </a:rPr>
              <a:t>今週のXP・正解数・学習時間など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B3A2F"/>
                </a:solidFill>
                <a:latin typeface="Noto Sans JP"/>
              </a:rPr>
              <a:t>AIのウーピーと英会話・英検の面接を練習</a:t>
            </a:r>
          </a:p>
        </p:txBody>
      </p:sp>
      <p:pic>
        <p:nvPicPr>
          <p:cNvPr id="3" name="Picture 2" descr="screen-convtal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977639" cy="2486024"/>
          </a:xfrm>
          <a:prstGeom prst="rect">
            <a:avLst/>
          </a:prstGeom>
        </p:spPr>
      </p:pic>
      <p:pic>
        <p:nvPicPr>
          <p:cNvPr id="4" name="Picture 3" descr="screen-inter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188720"/>
            <a:ext cx="3977639" cy="24860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767328"/>
            <a:ext cx="3977639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B3A2F"/>
                </a:solidFill>
                <a:latin typeface="Noto Sans JP"/>
              </a:rPr>
              <a:t>英会話島</a:t>
            </a:r>
            <a:r>
              <a:rPr sz="1400" b="0">
                <a:solidFill>
                  <a:srgbClr val="1F2A24"/>
                </a:solidFill>
                <a:latin typeface="Noto Sans JP"/>
              </a:rPr>
              <a:t>　カフェ・買い物など8つの場面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A24"/>
                </a:solidFill>
                <a:latin typeface="Noto Sans JP"/>
              </a:rPr>
              <a:t>言えたことをサーバーが判定してXPとコイン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3767328"/>
            <a:ext cx="3977639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B3A2F"/>
                </a:solidFill>
                <a:latin typeface="Noto Sans JP"/>
              </a:rPr>
              <a:t>英検5〜3級の島</a:t>
            </a:r>
            <a:r>
              <a:rPr sz="1400" b="0">
                <a:solidFill>
                  <a:srgbClr val="1F2A24"/>
                </a:solidFill>
                <a:latin typeface="Noto Sans JP"/>
              </a:rPr>
              <a:t>　読む・聞く・書く・話す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A24"/>
                </a:solidFill>
                <a:latin typeface="Noto Sans JP"/>
              </a:rPr>
              <a:t>本番と同じ順番の面接練習。採点の厳しさは先生が選ぶ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66756B"/>
                </a:solidFill>
                <a:latin typeface="Noto Sans JP"/>
              </a:rPr>
              <a:t>AI英会話・英検の島・みんなで話す島はプレミアム機能（名簿で生徒ごとにオン）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B3A2F"/>
                </a:solidFill>
                <a:latin typeface="Noto Sans JP"/>
              </a:rPr>
              <a:t>授業モードでクラス全員をワンタップで動かす</a:t>
            </a:r>
          </a:p>
        </p:txBody>
      </p:sp>
      <p:pic>
        <p:nvPicPr>
          <p:cNvPr id="3" name="Picture 2" descr="screen-classmo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977639" cy="2486024"/>
          </a:xfrm>
          <a:prstGeom prst="rect">
            <a:avLst/>
          </a:prstGeom>
        </p:spPr>
      </p:pic>
      <p:pic>
        <p:nvPicPr>
          <p:cNvPr id="4" name="Picture 3" descr="screen-teach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188720"/>
            <a:ext cx="3977639" cy="24860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767328"/>
            <a:ext cx="3977639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B3A2F"/>
                </a:solidFill>
                <a:latin typeface="Noto Sans JP"/>
              </a:rPr>
              <a:t>授業モード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A24"/>
                </a:solidFill>
                <a:latin typeface="Noto Sans JP"/>
              </a:rPr>
              <a:t>集合・一時停止・苦手単語の復習・みんなで移動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3767328"/>
            <a:ext cx="3977639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B3A2F"/>
                </a:solidFill>
                <a:latin typeface="Noto Sans JP"/>
              </a:rPr>
              <a:t>先生コンソール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A24"/>
                </a:solidFill>
                <a:latin typeface="Noto Sans JP"/>
              </a:rPr>
              <a:t>声をかける子の気づき・先生のメモ・英検準会場の見込み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B3A2F"/>
                </a:solidFill>
                <a:latin typeface="Noto Sans JP"/>
              </a:rPr>
              <a:t>保護者レポートは遊んだ記録から自動でできる</a:t>
            </a:r>
          </a:p>
        </p:txBody>
      </p:sp>
      <p:pic>
        <p:nvPicPr>
          <p:cNvPr id="3" name="Picture 2" descr="infra-repo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2346468" cy="3383280"/>
          </a:xfrm>
          <a:prstGeom prst="rect">
            <a:avLst/>
          </a:prstGeom>
        </p:spPr>
      </p:pic>
      <p:pic>
        <p:nvPicPr>
          <p:cNvPr id="4" name="Picture 3" descr="report-p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143000"/>
            <a:ext cx="2393477" cy="3383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0"/>
            <a:ext cx="53035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66756B"/>
                </a:solidFill>
                <a:latin typeface="Noto Sans JP"/>
              </a:rPr>
              <a:t>Webのレポート（左）とA4のPDF（右）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1234440"/>
            <a:ext cx="2697480" cy="3474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3A2F"/>
                </a:solidFill>
                <a:latin typeface="Noto Sans JP"/>
              </a:rPr>
              <a:t>今月のまとめ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A24"/>
                </a:solidFill>
                <a:latin typeface="Noto Sans JP"/>
              </a:rPr>
              <a:t>来た日・問題数・正解率・学習時間、去年の同じ月とも比べる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B3A2F"/>
                </a:solidFill>
                <a:latin typeface="Noto Sans JP"/>
              </a:rPr>
              <a:t>英検の目安と4技能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A24"/>
                </a:solidFill>
                <a:latin typeface="Noto Sans JP"/>
              </a:rPr>
              <a:t>練習で目安に届いた級がわかる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B3A2F"/>
                </a:solidFill>
                <a:latin typeface="Noto Sans JP"/>
              </a:rPr>
              <a:t>クラスの中の順位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A24"/>
                </a:solidFill>
                <a:latin typeface="Noto Sans JP"/>
              </a:rPr>
              <a:t>本人の順位と人数だけを表示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B3A2F"/>
                </a:solidFill>
                <a:latin typeface="Noto Sans JP"/>
              </a:rPr>
              <a:t>先生のメモ・記録証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A24"/>
                </a:solidFill>
                <a:latin typeface="Noto Sans JP"/>
              </a:rPr>
              <a:t>面談メモもワンクリック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B3A2F"/>
                </a:solidFill>
                <a:latin typeface="Noto Sans JP"/>
              </a:rPr>
              <a:t>LINEで毎週自動配信、保護者はQRを読むだけ</a:t>
            </a:r>
          </a:p>
        </p:txBody>
      </p:sp>
      <p:pic>
        <p:nvPicPr>
          <p:cNvPr id="3" name="Picture 2" descr="line-week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2889504" cy="361188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3703320" y="1243584"/>
            <a:ext cx="457200" cy="457200"/>
          </a:xfrm>
          <a:prstGeom prst="ellipse">
            <a:avLst/>
          </a:prstGeom>
          <a:solidFill>
            <a:srgbClr val="E2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400" y="1188720"/>
            <a:ext cx="434340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1B3A2F"/>
                </a:solidFill>
                <a:latin typeface="Noto Sans JP"/>
              </a:rPr>
              <a:t>教室が配信を設定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F2A24"/>
                </a:solidFill>
                <a:latin typeface="Noto Sans JP"/>
              </a:rPr>
              <a:t>毎週・隔週・毎月から選び、曜日と時刻を決める</a:t>
            </a:r>
          </a:p>
        </p:txBody>
      </p:sp>
      <p:sp>
        <p:nvSpPr>
          <p:cNvPr id="6" name="Oval 5"/>
          <p:cNvSpPr/>
          <p:nvPr/>
        </p:nvSpPr>
        <p:spPr>
          <a:xfrm>
            <a:off x="3703320" y="2130552"/>
            <a:ext cx="457200" cy="457200"/>
          </a:xfrm>
          <a:prstGeom prst="ellipse">
            <a:avLst/>
          </a:prstGeom>
          <a:solidFill>
            <a:srgbClr val="E2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2075688"/>
            <a:ext cx="434340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1B3A2F"/>
                </a:solidFill>
                <a:latin typeface="Noto Sans JP"/>
              </a:rPr>
              <a:t>保護者がQRで登録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F2A24"/>
                </a:solidFill>
                <a:latin typeface="Noto Sans JP"/>
              </a:rPr>
              <a:t>子どもごとのカードを読み取りLINEで受け取る（1人に4人まで）</a:t>
            </a:r>
          </a:p>
        </p:txBody>
      </p:sp>
      <p:sp>
        <p:nvSpPr>
          <p:cNvPr id="8" name="Oval 7"/>
          <p:cNvSpPr/>
          <p:nvPr/>
        </p:nvSpPr>
        <p:spPr>
          <a:xfrm>
            <a:off x="3703320" y="3017520"/>
            <a:ext cx="457200" cy="457200"/>
          </a:xfrm>
          <a:prstGeom prst="ellipse">
            <a:avLst/>
          </a:prstGeom>
          <a:solidFill>
            <a:srgbClr val="E2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962656"/>
            <a:ext cx="434340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1B3A2F"/>
                </a:solidFill>
                <a:latin typeface="Noto Sans JP"/>
              </a:rPr>
              <a:t>レポートを自動作成して配信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F2A24"/>
                </a:solidFill>
                <a:latin typeface="Noto Sans JP"/>
              </a:rPr>
              <a:t>英語をした日・答えた数・覚えた単語・来週のめあて</a:t>
            </a:r>
          </a:p>
        </p:txBody>
      </p:sp>
      <p:sp>
        <p:nvSpPr>
          <p:cNvPr id="10" name="Oval 9"/>
          <p:cNvSpPr/>
          <p:nvPr/>
        </p:nvSpPr>
        <p:spPr>
          <a:xfrm>
            <a:off x="3703320" y="3904488"/>
            <a:ext cx="457200" cy="457200"/>
          </a:xfrm>
          <a:prstGeom prst="ellipse">
            <a:avLst/>
          </a:prstGeom>
          <a:solidFill>
            <a:srgbClr val="E2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849624"/>
            <a:ext cx="434340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1B3A2F"/>
                </a:solidFill>
                <a:latin typeface="Noto Sans JP"/>
              </a:rPr>
              <a:t>先生のひとことを添える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F2A24"/>
                </a:solidFill>
                <a:latin typeface="Noto Sans JP"/>
              </a:rPr>
              <a:t>クラスの順位も1行で載る。PDFでも見られる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