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3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image" Target="../media/image5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Relationship Id="rId3" Type="http://schemas.openxmlformats.org/officeDocument/2006/relationships/image" Target="../media/image7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160520" cy="5143500"/>
          </a:xfrm>
          <a:prstGeom prst="rect">
            <a:avLst/>
          </a:prstGeom>
          <a:solidFill>
            <a:srgbClr val="1B3A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685800"/>
            <a:ext cx="3383280" cy="36576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300" b="1">
                <a:solidFill>
                  <a:srgbClr val="E27A2D"/>
                </a:solidFill>
                <a:latin typeface="Noto Sans JP"/>
              </a:rPr>
              <a:t>英会話教室のための英語プラットフォーム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3611880" cy="7315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3400" b="1">
                <a:solidFill>
                  <a:srgbClr val="FFF6E6"/>
                </a:solidFill>
                <a:latin typeface="Noto Sans JP"/>
              </a:rPr>
              <a:t>U-Speak Web版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965960"/>
            <a:ext cx="3291840" cy="11887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900" b="1">
                <a:solidFill>
                  <a:srgbClr val="FFF6E6"/>
                </a:solidFill>
                <a:latin typeface="Noto Sans JP"/>
              </a:rPr>
              <a:t>生徒が家でも英語を続け、その成果が保護者に毎週届く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429000"/>
            <a:ext cx="3383280" cy="9144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C9D6CC"/>
                </a:solidFill>
                <a:latin typeface="Noto Sans JP"/>
              </a:rPr>
              <a:t>合同会社 U-Speak Lab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C9D6CC"/>
                </a:solidFill>
                <a:latin typeface="Noto Sans JP"/>
              </a:rPr>
              <a:t>iPad・PCのブラウザで動作（インストール不要）</a:t>
            </a:r>
          </a:p>
        </p:txBody>
      </p:sp>
      <p:pic>
        <p:nvPicPr>
          <p:cNvPr id="7" name="Picture 6" descr="main-islan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34840" y="969264"/>
            <a:ext cx="4389120" cy="305006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434840" y="4069080"/>
            <a:ext cx="4389120" cy="31089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200" b="0">
                <a:solidFill>
                  <a:srgbClr val="66756B"/>
                </a:solidFill>
                <a:latin typeface="Noto Sans JP"/>
              </a:rPr>
              <a:t>メインの島：歩いて英語を使う3Dの世界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92608"/>
            <a:ext cx="8229600" cy="77724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2600" b="1">
                <a:solidFill>
                  <a:srgbClr val="1B3A2F"/>
                </a:solidFill>
                <a:latin typeface="Noto Sans JP"/>
              </a:rPr>
              <a:t>授業だけでは解けない、教室の3つの課題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325880"/>
            <a:ext cx="2606040" cy="3017520"/>
          </a:xfrm>
          <a:prstGeom prst="roundRect">
            <a:avLst>
              <a:gd name="adj" fmla="val 6000"/>
            </a:avLst>
          </a:prstGeom>
          <a:solidFill>
            <a:srgbClr val="EE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685800" y="1554480"/>
            <a:ext cx="457200" cy="457200"/>
          </a:xfrm>
          <a:prstGeom prst="ellipse">
            <a:avLst/>
          </a:prstGeom>
          <a:solidFill>
            <a:srgbClr val="E27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800" b="1">
                <a:solidFill>
                  <a:srgbClr val="FFFFFF"/>
                </a:solidFill>
                <a:latin typeface="Noto Sans JP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194560"/>
            <a:ext cx="2194560" cy="7315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700" b="1">
                <a:solidFill>
                  <a:srgbClr val="1B3A2F"/>
                </a:solidFill>
                <a:latin typeface="Noto Sans JP"/>
              </a:rPr>
              <a:t>英語にふれる時間が足りない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926080"/>
            <a:ext cx="2194560" cy="128016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400" b="0">
                <a:solidFill>
                  <a:srgbClr val="1F2A24"/>
                </a:solidFill>
                <a:latin typeface="Noto Sans JP"/>
              </a:rPr>
              <a:t>週1回の授業だけでは、次の授業までに忘れてしまう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73552" y="1325880"/>
            <a:ext cx="2606040" cy="3017520"/>
          </a:xfrm>
          <a:prstGeom prst="roundRect">
            <a:avLst>
              <a:gd name="adj" fmla="val 6000"/>
            </a:avLst>
          </a:prstGeom>
          <a:solidFill>
            <a:srgbClr val="EE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3502152" y="1554480"/>
            <a:ext cx="457200" cy="457200"/>
          </a:xfrm>
          <a:prstGeom prst="ellipse">
            <a:avLst/>
          </a:prstGeom>
          <a:solidFill>
            <a:srgbClr val="E27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800" b="1">
                <a:solidFill>
                  <a:srgbClr val="FFFFFF"/>
                </a:solidFill>
                <a:latin typeface="Noto Sans JP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02152" y="2194560"/>
            <a:ext cx="2194560" cy="7315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700" b="1">
                <a:solidFill>
                  <a:srgbClr val="1B3A2F"/>
                </a:solidFill>
                <a:latin typeface="Noto Sans JP"/>
              </a:rPr>
              <a:t>退会が毎月少しずつ出る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02152" y="2926080"/>
            <a:ext cx="2194560" cy="128016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400" b="0">
                <a:solidFill>
                  <a:srgbClr val="1F2A24"/>
                </a:solidFill>
                <a:latin typeface="Noto Sans JP"/>
              </a:rPr>
              <a:t>継続率が月95%なら、30人の教室で毎月1〜2人が辞める¹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089904" y="1325880"/>
            <a:ext cx="2606040" cy="3017520"/>
          </a:xfrm>
          <a:prstGeom prst="roundRect">
            <a:avLst>
              <a:gd name="adj" fmla="val 6000"/>
            </a:avLst>
          </a:prstGeom>
          <a:solidFill>
            <a:srgbClr val="EE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318504" y="1554480"/>
            <a:ext cx="457200" cy="457200"/>
          </a:xfrm>
          <a:prstGeom prst="ellipse">
            <a:avLst/>
          </a:prstGeom>
          <a:solidFill>
            <a:srgbClr val="E27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800" b="1">
                <a:solidFill>
                  <a:srgbClr val="FFFFFF"/>
                </a:solidFill>
                <a:latin typeface="Noto Sans JP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18504" y="2194560"/>
            <a:ext cx="2194560" cy="7315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700" b="1">
                <a:solidFill>
                  <a:srgbClr val="1B3A2F"/>
                </a:solidFill>
                <a:latin typeface="Noto Sans JP"/>
              </a:rPr>
              <a:t>保護者に成果が見えにくい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18504" y="2926080"/>
            <a:ext cx="2194560" cy="128016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400" b="0">
                <a:solidFill>
                  <a:srgbClr val="1F2A24"/>
                </a:solidFill>
                <a:latin typeface="Noto Sans JP"/>
              </a:rPr>
              <a:t>「何ができるようになったか」を伝える手間が先生にかかる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4709160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000" b="0">
                <a:solidFill>
                  <a:srgbClr val="66756B"/>
                </a:solidFill>
                <a:latin typeface="Noto Sans JP"/>
              </a:rPr>
              <a:t>¹ 子ども英会話教室の継続率の平均は月93〜97%。出典：レスティック「英会話スクールの継続率の平均」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92608"/>
            <a:ext cx="8229600" cy="77724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2600" b="1">
                <a:solidFill>
                  <a:srgbClr val="1B3A2F"/>
                </a:solidFill>
                <a:latin typeface="Noto Sans JP"/>
              </a:rPr>
              <a:t>子ども・先生・保護者を1つの記録でつなぐ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371600"/>
            <a:ext cx="2468880" cy="2560320"/>
          </a:xfrm>
          <a:prstGeom prst="roundRect">
            <a:avLst>
              <a:gd name="adj" fmla="val 8000"/>
            </a:avLst>
          </a:prstGeom>
          <a:solidFill>
            <a:srgbClr val="EE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1508760"/>
            <a:ext cx="2139696" cy="22860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B3A2F"/>
                </a:solidFill>
                <a:latin typeface="Noto Sans JP"/>
              </a:rPr>
              <a:t>子ども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1F2A24"/>
                </a:solidFill>
                <a:latin typeface="Noto Sans JP"/>
              </a:rPr>
              <a:t>島で英語に答え、AIと話す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1F2A24"/>
                </a:solidFill>
                <a:latin typeface="Noto Sans JP"/>
              </a:rPr>
              <a:t>家でも授業でも同じ世界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37560" y="1371600"/>
            <a:ext cx="2468880" cy="2560320"/>
          </a:xfrm>
          <a:prstGeom prst="roundRect">
            <a:avLst>
              <a:gd name="adj" fmla="val 8000"/>
            </a:avLst>
          </a:prstGeom>
          <a:solidFill>
            <a:srgbClr val="FFF1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502152" y="1508760"/>
            <a:ext cx="2139696" cy="22860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B3A2F"/>
                </a:solidFill>
                <a:latin typeface="Noto Sans JP"/>
              </a:rPr>
              <a:t>学習記録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1F2A24"/>
                </a:solidFill>
                <a:latin typeface="Noto Sans JP"/>
              </a:rPr>
              <a:t>正解・コイン・時間をサーバーが判定して保存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1F2A24"/>
                </a:solidFill>
                <a:latin typeface="Noto Sans JP"/>
              </a:rPr>
              <a:t>画面側では変えられない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234440"/>
            <a:ext cx="2468880" cy="1325880"/>
          </a:xfrm>
          <a:prstGeom prst="roundRect">
            <a:avLst>
              <a:gd name="adj" fmla="val 8000"/>
            </a:avLst>
          </a:prstGeom>
          <a:solidFill>
            <a:srgbClr val="EE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82512" y="1371600"/>
            <a:ext cx="2139696" cy="105156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B3A2F"/>
                </a:solidFill>
                <a:latin typeface="Noto Sans JP"/>
              </a:rPr>
              <a:t>先生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1F2A24"/>
                </a:solidFill>
                <a:latin typeface="Noto Sans JP"/>
              </a:rPr>
              <a:t>授業モード・気づき・メモ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2743200"/>
            <a:ext cx="2468880" cy="1325880"/>
          </a:xfrm>
          <a:prstGeom prst="roundRect">
            <a:avLst>
              <a:gd name="adj" fmla="val 8000"/>
            </a:avLst>
          </a:prstGeom>
          <a:solidFill>
            <a:srgbClr val="EE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82512" y="2880360"/>
            <a:ext cx="2139696" cy="105156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B3A2F"/>
                </a:solidFill>
                <a:latin typeface="Noto Sans JP"/>
              </a:rPr>
              <a:t>保護者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1F2A24"/>
                </a:solidFill>
                <a:latin typeface="Noto Sans JP"/>
              </a:rPr>
              <a:t>レポートとLINEで毎週届く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2926080" y="2651760"/>
            <a:ext cx="411480" cy="0"/>
          </a:xfrm>
          <a:prstGeom prst="line">
            <a:avLst/>
          </a:prstGeom>
          <a:ln w="25400">
            <a:solidFill>
              <a:srgbClr val="66756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V="1">
            <a:off x="5806440" y="1892807"/>
            <a:ext cx="411480" cy="393193"/>
          </a:xfrm>
          <a:prstGeom prst="line">
            <a:avLst/>
          </a:prstGeom>
          <a:ln w="25400">
            <a:solidFill>
              <a:srgbClr val="66756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5806440" y="3017520"/>
            <a:ext cx="411480" cy="384048"/>
          </a:xfrm>
          <a:prstGeom prst="line">
            <a:avLst/>
          </a:prstGeom>
          <a:ln w="25400">
            <a:solidFill>
              <a:srgbClr val="66756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457200" y="4160520"/>
            <a:ext cx="8229600" cy="4572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400" b="0">
                <a:solidFill>
                  <a:srgbClr val="1F2A24"/>
                </a:solidFill>
                <a:latin typeface="Noto Sans JP"/>
              </a:rPr>
              <a:t>1つの記録から授業・家庭・保護者連絡が動くので、数字を集め直す作業はありません。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92608"/>
            <a:ext cx="8229600" cy="77724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2600" b="1">
                <a:solidFill>
                  <a:srgbClr val="1B3A2F"/>
                </a:solidFill>
                <a:latin typeface="Noto Sans JP"/>
              </a:rPr>
              <a:t>家でも続く：英語に答えるほど島で先へ進めるゲーム</a:t>
            </a:r>
          </a:p>
        </p:txBody>
      </p:sp>
      <p:pic>
        <p:nvPicPr>
          <p:cNvPr id="3" name="Picture 2" descr="screen-fw-catch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88720"/>
            <a:ext cx="3017520" cy="22631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3502152"/>
            <a:ext cx="3017520" cy="31089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200" b="0">
                <a:solidFill>
                  <a:srgbClr val="66756B"/>
                </a:solidFill>
                <a:latin typeface="Noto Sans JP"/>
              </a:rPr>
              <a:t>つり島：正解すると魚が釣れる</a:t>
            </a:r>
          </a:p>
        </p:txBody>
      </p:sp>
      <p:pic>
        <p:nvPicPr>
          <p:cNvPr id="5" name="Picture 4" descr="screen-convtalk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0" y="1188720"/>
            <a:ext cx="3017520" cy="188594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657600" y="3108960"/>
            <a:ext cx="3017520" cy="31089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200" b="0">
                <a:solidFill>
                  <a:srgbClr val="66756B"/>
                </a:solidFill>
                <a:latin typeface="Noto Sans JP"/>
              </a:rPr>
              <a:t>英会話島：AIのウーピーと会話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0" y="1234440"/>
            <a:ext cx="1828800" cy="32004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500"/>
              </a:spcAft>
            </a:pPr>
            <a:r>
              <a:rPr sz="1400" b="1">
                <a:solidFill>
                  <a:srgbClr val="1B3A2F"/>
                </a:solidFill>
                <a:latin typeface="Noto Sans JP"/>
              </a:rPr>
              <a:t>19の島</a:t>
            </a:r>
          </a:p>
          <a:p>
            <a:pPr algn="l">
              <a:spcAft>
                <a:spcPts val="500"/>
              </a:spcAft>
            </a:pPr>
            <a:r>
              <a:rPr sz="1400" b="0">
                <a:solidFill>
                  <a:srgbClr val="1F2A24"/>
                </a:solidFill>
                <a:latin typeface="Noto Sans JP"/>
              </a:rPr>
              <a:t>つり・牧場・レース・英検など</a:t>
            </a:r>
          </a:p>
          <a:p>
            <a:pPr algn="l">
              <a:spcAft>
                <a:spcPts val="500"/>
              </a:spcAft>
            </a:pPr>
            <a:r>
              <a:rPr sz="1400" b="1">
                <a:solidFill>
                  <a:srgbClr val="1B3A2F"/>
                </a:solidFill>
                <a:latin typeface="Noto Sans JP"/>
              </a:rPr>
              <a:t>AI英会話</a:t>
            </a:r>
          </a:p>
          <a:p>
            <a:pPr algn="l">
              <a:spcAft>
                <a:spcPts val="500"/>
              </a:spcAft>
            </a:pPr>
            <a:r>
              <a:rPr sz="1400" b="0">
                <a:solidFill>
                  <a:srgbClr val="1F2A24"/>
                </a:solidFill>
                <a:latin typeface="Noto Sans JP"/>
              </a:rPr>
              <a:t>8つの場面と英検の面接</a:t>
            </a:r>
          </a:p>
          <a:p>
            <a:pPr algn="l">
              <a:spcAft>
                <a:spcPts val="500"/>
              </a:spcAft>
            </a:pPr>
            <a:r>
              <a:rPr sz="1400" b="1">
                <a:solidFill>
                  <a:srgbClr val="1B3A2F"/>
                </a:solidFill>
                <a:latin typeface="Noto Sans JP"/>
              </a:rPr>
              <a:t>ランキング</a:t>
            </a:r>
          </a:p>
          <a:p>
            <a:pPr algn="l">
              <a:spcAft>
                <a:spcPts val="500"/>
              </a:spcAft>
            </a:pPr>
            <a:r>
              <a:rPr sz="1400" b="0">
                <a:solidFill>
                  <a:srgbClr val="1F2A24"/>
                </a:solidFill>
                <a:latin typeface="Noto Sans JP"/>
              </a:rPr>
              <a:t>21の指標でクラス内順位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931920"/>
            <a:ext cx="6217920" cy="6400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400" b="0">
                <a:solidFill>
                  <a:srgbClr val="1F2A24"/>
                </a:solidFill>
                <a:latin typeface="Noto Sans JP"/>
              </a:rPr>
              <a:t>遊ぶ目的（魚・コイン・順位）が、英語を使う回数をそのまま増やす作りです。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92608"/>
            <a:ext cx="8229600" cy="77724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2600" b="1">
                <a:solidFill>
                  <a:srgbClr val="1B3A2F"/>
                </a:solidFill>
                <a:latin typeface="Noto Sans JP"/>
              </a:rPr>
              <a:t>先生の手間を増やさず、クラス全員を動かせる</a:t>
            </a:r>
          </a:p>
        </p:txBody>
      </p:sp>
      <p:pic>
        <p:nvPicPr>
          <p:cNvPr id="3" name="Picture 2" descr="screen-classmod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88720"/>
            <a:ext cx="3977639" cy="2486024"/>
          </a:xfrm>
          <a:prstGeom prst="rect">
            <a:avLst/>
          </a:prstGeom>
        </p:spPr>
      </p:pic>
      <p:pic>
        <p:nvPicPr>
          <p:cNvPr id="4" name="Picture 3" descr="screen-teacher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09160" y="1188720"/>
            <a:ext cx="3977639" cy="248602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3767328"/>
            <a:ext cx="3977639" cy="82296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B3A2F"/>
                </a:solidFill>
                <a:latin typeface="Noto Sans JP"/>
              </a:rPr>
              <a:t>授業モード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A24"/>
                </a:solidFill>
                <a:latin typeface="Noto Sans JP"/>
              </a:rPr>
              <a:t>集合・一時停止・苦手単語の復習・みんなで移動をワンタップ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09160" y="3767328"/>
            <a:ext cx="3977639" cy="82296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B3A2F"/>
                </a:solidFill>
                <a:latin typeface="Noto Sans JP"/>
              </a:rPr>
              <a:t>先生コンソール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A24"/>
                </a:solidFill>
                <a:latin typeface="Noto Sans JP"/>
              </a:rPr>
              <a:t>声をかけたい子の気づき・メモ・英検準会場の見込み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92608"/>
            <a:ext cx="8229600" cy="77724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2600" b="1">
                <a:solidFill>
                  <a:srgbClr val="1B3A2F"/>
                </a:solidFill>
                <a:latin typeface="Noto Sans JP"/>
              </a:rPr>
              <a:t>保護者には毎週LINEでレポートが届く</a:t>
            </a:r>
          </a:p>
        </p:txBody>
      </p:sp>
      <p:pic>
        <p:nvPicPr>
          <p:cNvPr id="3" name="Picture 2" descr="infra-repor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43000"/>
            <a:ext cx="2346468" cy="3383280"/>
          </a:xfrm>
          <a:prstGeom prst="rect">
            <a:avLst/>
          </a:prstGeom>
        </p:spPr>
      </p:pic>
      <p:pic>
        <p:nvPicPr>
          <p:cNvPr id="4" name="Picture 3" descr="line-weekly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0" y="1143000"/>
            <a:ext cx="2706624" cy="3383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4572000"/>
            <a:ext cx="5303520" cy="31089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200" b="0">
                <a:solidFill>
                  <a:srgbClr val="66756B"/>
                </a:solidFill>
                <a:latin typeface="Noto Sans JP"/>
              </a:rPr>
              <a:t>Webのレポート（左）とLINEで届く週のレポート（右）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52160" y="1234440"/>
            <a:ext cx="2834640" cy="32918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B3A2F"/>
                </a:solidFill>
                <a:latin typeface="Noto Sans JP"/>
              </a:rPr>
              <a:t>作るのは自動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F2A24"/>
                </a:solidFill>
                <a:latin typeface="Noto Sans JP"/>
              </a:rPr>
              <a:t>英語をした日・答えた数・覚えた単語・来週のめあて</a:t>
            </a:r>
          </a:p>
          <a:p>
            <a:pPr algn="l">
              <a:spcAft>
                <a:spcPts val="400"/>
              </a:spcAft>
            </a:pPr>
            <a:r>
              <a:rPr sz="1300" b="1">
                <a:solidFill>
                  <a:srgbClr val="1B3A2F"/>
                </a:solidFill>
                <a:latin typeface="Noto Sans JP"/>
              </a:rPr>
              <a:t>登録はQRだけ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F2A24"/>
                </a:solidFill>
                <a:latin typeface="Noto Sans JP"/>
              </a:rPr>
              <a:t>子どもごとのカードを読み取りLINEで受け取る</a:t>
            </a:r>
          </a:p>
          <a:p>
            <a:pPr algn="l">
              <a:spcAft>
                <a:spcPts val="400"/>
              </a:spcAft>
            </a:pPr>
            <a:r>
              <a:rPr sz="1300" b="1">
                <a:solidFill>
                  <a:srgbClr val="1B3A2F"/>
                </a:solidFill>
                <a:latin typeface="Noto Sans JP"/>
              </a:rPr>
              <a:t>先生のひとこと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F2A24"/>
                </a:solidFill>
                <a:latin typeface="Noto Sans JP"/>
              </a:rPr>
              <a:t>配信前に一言だけ添えられる</a:t>
            </a:r>
          </a:p>
          <a:p>
            <a:pPr algn="l">
              <a:spcAft>
                <a:spcPts val="400"/>
              </a:spcAft>
            </a:pPr>
            <a:r>
              <a:rPr sz="1300" b="1">
                <a:solidFill>
                  <a:srgbClr val="1B3A2F"/>
                </a:solidFill>
                <a:latin typeface="Noto Sans JP"/>
              </a:rPr>
              <a:t>PDF・記録証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F2A24"/>
                </a:solidFill>
                <a:latin typeface="Noto Sans JP"/>
              </a:rPr>
              <a:t>面談や月末の報告にもそのまま使える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92608"/>
            <a:ext cx="8229600" cy="77724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2600" b="1">
                <a:solidFill>
                  <a:srgbClr val="1B3A2F"/>
                </a:solidFill>
                <a:latin typeface="Noto Sans JP"/>
              </a:rPr>
              <a:t>導入は4ステップ、機材は今あるiPad・PCで足りる</a:t>
            </a:r>
          </a:p>
        </p:txBody>
      </p:sp>
      <p:sp>
        <p:nvSpPr>
          <p:cNvPr id="3" name="Oval 2"/>
          <p:cNvSpPr/>
          <p:nvPr/>
        </p:nvSpPr>
        <p:spPr>
          <a:xfrm>
            <a:off x="457200" y="1371600"/>
            <a:ext cx="457200" cy="457200"/>
          </a:xfrm>
          <a:prstGeom prst="ellipse">
            <a:avLst/>
          </a:prstGeom>
          <a:solidFill>
            <a:srgbClr val="E27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800" b="1">
                <a:solidFill>
                  <a:srgbClr val="FFFFFF"/>
                </a:solidFill>
                <a:latin typeface="Noto Sans JP"/>
              </a:rPr>
              <a:t>1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1005840" y="1600200"/>
            <a:ext cx="1463040" cy="0"/>
          </a:xfrm>
          <a:prstGeom prst="line">
            <a:avLst/>
          </a:prstGeom>
          <a:ln w="25400">
            <a:solidFill>
              <a:srgbClr val="66756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2011680"/>
            <a:ext cx="1920240" cy="6400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600" b="1">
                <a:solidFill>
                  <a:srgbClr val="1B3A2F"/>
                </a:solidFill>
                <a:latin typeface="Noto Sans JP"/>
              </a:rPr>
              <a:t>名簿を登録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651760"/>
            <a:ext cx="1920240" cy="128016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400" b="0">
                <a:solidFill>
                  <a:srgbClr val="1F2A24"/>
                </a:solidFill>
                <a:latin typeface="Noto Sans JP"/>
              </a:rPr>
              <a:t>CSV・Googleシートを貼るだけ。先生とプレミアムの印もここで</a:t>
            </a:r>
          </a:p>
        </p:txBody>
      </p:sp>
      <p:sp>
        <p:nvSpPr>
          <p:cNvPr id="7" name="Oval 6"/>
          <p:cNvSpPr/>
          <p:nvPr/>
        </p:nvSpPr>
        <p:spPr>
          <a:xfrm>
            <a:off x="2560320" y="1371600"/>
            <a:ext cx="457200" cy="457200"/>
          </a:xfrm>
          <a:prstGeom prst="ellipse">
            <a:avLst/>
          </a:prstGeom>
          <a:solidFill>
            <a:srgbClr val="E27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800" b="1">
                <a:solidFill>
                  <a:srgbClr val="FFFFFF"/>
                </a:solidFill>
                <a:latin typeface="Noto Sans JP"/>
              </a:rPr>
              <a:t>2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3108960" y="1600200"/>
            <a:ext cx="1463040" cy="0"/>
          </a:xfrm>
          <a:prstGeom prst="line">
            <a:avLst/>
          </a:prstGeom>
          <a:ln w="25400">
            <a:solidFill>
              <a:srgbClr val="66756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2560320" y="2011680"/>
            <a:ext cx="1920240" cy="6400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600" b="1">
                <a:solidFill>
                  <a:srgbClr val="1B3A2F"/>
                </a:solidFill>
                <a:latin typeface="Noto Sans JP"/>
              </a:rPr>
              <a:t>保護者にQRカードを配る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60320" y="2651760"/>
            <a:ext cx="1920240" cy="128016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400" b="0">
                <a:solidFill>
                  <a:srgbClr val="1F2A24"/>
                </a:solidFill>
                <a:latin typeface="Noto Sans JP"/>
              </a:rPr>
              <a:t>印刷用のカードを教室ページから出力</a:t>
            </a:r>
          </a:p>
        </p:txBody>
      </p:sp>
      <p:sp>
        <p:nvSpPr>
          <p:cNvPr id="11" name="Oval 10"/>
          <p:cNvSpPr/>
          <p:nvPr/>
        </p:nvSpPr>
        <p:spPr>
          <a:xfrm>
            <a:off x="4663440" y="1371600"/>
            <a:ext cx="457200" cy="457200"/>
          </a:xfrm>
          <a:prstGeom prst="ellipse">
            <a:avLst/>
          </a:prstGeom>
          <a:solidFill>
            <a:srgbClr val="E27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800" b="1">
                <a:solidFill>
                  <a:srgbClr val="FFFFFF"/>
                </a:solidFill>
                <a:latin typeface="Noto Sans JP"/>
              </a:rPr>
              <a:t>3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5212079" y="1600200"/>
            <a:ext cx="1463041" cy="0"/>
          </a:xfrm>
          <a:prstGeom prst="line">
            <a:avLst/>
          </a:prstGeom>
          <a:ln w="25400">
            <a:solidFill>
              <a:srgbClr val="66756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4663440" y="2011680"/>
            <a:ext cx="1920240" cy="6400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600" b="1">
                <a:solidFill>
                  <a:srgbClr val="1B3A2F"/>
                </a:solidFill>
                <a:latin typeface="Noto Sans JP"/>
              </a:rPr>
              <a:t>授業で一緒に始める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63440" y="2651760"/>
            <a:ext cx="1920240" cy="128016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400" b="0">
                <a:solidFill>
                  <a:srgbClr val="1F2A24"/>
                </a:solidFill>
                <a:latin typeface="Noto Sans JP"/>
              </a:rPr>
              <a:t>授業モードでクラス全員を同じ島に集める</a:t>
            </a:r>
          </a:p>
        </p:txBody>
      </p:sp>
      <p:sp>
        <p:nvSpPr>
          <p:cNvPr id="15" name="Oval 14"/>
          <p:cNvSpPr/>
          <p:nvPr/>
        </p:nvSpPr>
        <p:spPr>
          <a:xfrm>
            <a:off x="6766559" y="1371600"/>
            <a:ext cx="457200" cy="457200"/>
          </a:xfrm>
          <a:prstGeom prst="ellipse">
            <a:avLst/>
          </a:prstGeom>
          <a:solidFill>
            <a:srgbClr val="E27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800" b="1">
                <a:solidFill>
                  <a:srgbClr val="FFFFFF"/>
                </a:solidFill>
                <a:latin typeface="Noto Sans JP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66559" y="2011680"/>
            <a:ext cx="1920240" cy="6400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600" b="1">
                <a:solidFill>
                  <a:srgbClr val="1B3A2F"/>
                </a:solidFill>
                <a:latin typeface="Noto Sans JP"/>
              </a:rPr>
              <a:t>LINE配信を設定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66559" y="2651760"/>
            <a:ext cx="1920240" cy="128016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400" b="0">
                <a:solidFill>
                  <a:srgbClr val="1F2A24"/>
                </a:solidFill>
                <a:latin typeface="Noto Sans JP"/>
              </a:rPr>
              <a:t>毎週・隔週・毎月から選び、曜日と時刻を決める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931920"/>
            <a:ext cx="8229600" cy="685800"/>
          </a:xfrm>
          <a:prstGeom prst="roundRect">
            <a:avLst/>
          </a:prstGeom>
          <a:solidFill>
            <a:srgbClr val="FFF1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4005072"/>
            <a:ext cx="7863840" cy="54864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/>
            <a:r>
              <a:rPr sz="1400" b="0">
                <a:solidFill>
                  <a:srgbClr val="1F2A24"/>
                </a:solidFill>
                <a:latin typeface="Noto Sans JP"/>
              </a:rPr>
              <a:t>料金は教室の人数とプランに合わせてご提案します。AI英会話・英検の島はプレミアム（生徒ごとに設定）。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B3A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188720"/>
            <a:ext cx="7680960" cy="82296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2800" b="1">
                <a:solidFill>
                  <a:srgbClr val="FFF6E6"/>
                </a:solidFill>
                <a:latin typeface="Noto Sans JP"/>
              </a:rPr>
              <a:t>まずは30分のデモで、実際の画面を一緒に動かしてみませんか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377440"/>
            <a:ext cx="7680960" cy="1463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DCE6DF"/>
                </a:solidFill>
                <a:latin typeface="Noto Sans JP"/>
              </a:rPr>
              <a:t>先生の端末と生徒の端末を並べて、授業モード・ランキング・保護者レポートまで通しでお見せします。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DCE6DF"/>
                </a:solidFill>
                <a:latin typeface="Noto Sans JP"/>
              </a:rPr>
              <a:t>デモ用のクラスはこちらで用意します。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023360"/>
            <a:ext cx="7680960" cy="4572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/>
            <a:r>
              <a:rPr sz="1400" b="1">
                <a:solidFill>
                  <a:srgbClr val="E27A2D"/>
                </a:solidFill>
                <a:latin typeface="Noto Sans JP"/>
              </a:rPr>
              <a:t>合同会社 U-Speak Lab　|　https://uspeak-multiplayer.fly.dev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